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F3B52"/>
                </a:solidFill>
                <a:latin typeface="Aptos"/>
              </a:rPr>
              <a:t>SecureRAG Hub - Chaine DevSecOps et statuts honnetes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473"/>
                </a:solidFill>
                <a:latin typeface="Aptos"/>
              </a:rPr>
              <a:t>Resume de la chaine end-to-end pour memoire et soutenance.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743200" cy="1920240"/>
          </a:xfrm>
          <a:prstGeom prst="roundRect">
            <a:avLst/>
          </a:prstGeom>
          <a:solidFill>
            <a:srgbClr val="228B55"/>
          </a:solidFill>
          <a:ln>
            <a:solidFill>
              <a:srgbClr val="228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/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TERMINÉ côté dépôt</a:t>
            </a:r>
          </a:p>
          <a:p>
            <a:r>
              <a:rPr sz="1200">
                <a:solidFill>
                  <a:srgbClr val="FFFFFF"/>
                </a:solidFill>
                <a:latin typeface="Aptos"/>
              </a:rPr>
              <a:t>La chaine est conçue, automatisée, versionnée et documentée.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417320"/>
            <a:ext cx="2743200" cy="1920240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/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DÉPENDANT_DE_L_ENVIRONNEMENT</a:t>
            </a:r>
          </a:p>
          <a:p>
            <a:r>
              <a:rPr sz="1200">
                <a:solidFill>
                  <a:srgbClr val="FFFFFF"/>
                </a:solidFill>
                <a:latin typeface="Aptos"/>
              </a:rPr>
              <a:t>Preuve runtime finale, release finale, Kyverno live, DB externe et Jenkins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2743200" cy="192024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/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PRÊT_NON_EXÉCUTÉ</a:t>
            </a:r>
          </a:p>
          <a:p>
            <a:r>
              <a:rPr sz="1200">
                <a:solidFill>
                  <a:srgbClr val="FFFFFF"/>
                </a:solidFill>
                <a:latin typeface="Aptos"/>
              </a:rPr>
              <a:t>Modernisation secrets type SOPS, External Secrets Operator ou Vault.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417320"/>
            <a:ext cx="2148840" cy="19202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/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PARTIEL</a:t>
            </a:r>
          </a:p>
          <a:p>
            <a:r>
              <a:rPr sz="1200">
                <a:solidFill>
                  <a:srgbClr val="FFFFFF"/>
                </a:solidFill>
                <a:latin typeface="Aptos"/>
              </a:rPr>
              <a:t>Démonstration live incomplète tant que le cluster cible n'est pas proprement rejoué.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3B52"/>
                </a:solidFill>
                <a:latin typeface="Aptos"/>
              </a:rPr>
              <a:t>Blocs principaux de la chaine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1. Depot et gouvernance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2. CI statique et controle de securite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3. Build images et registry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4. Supply chain et promotion digest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5. Deploiement Kubernetes et runtime final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6. Securite post-deploiement et Kyverno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7. Donnees, secrets, Jenkins live, support pack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F3B52"/>
                </a:solidFill>
                <a:latin typeface="Aptos"/>
              </a:rPr>
              <a:t>Tableau de synthese de la chaine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29284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394960"/>
                <a:gridCol w="333756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Bloc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Couverture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Statut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Code et gouvernance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Git, Jenkinsfile, docs, runbooks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TERMINÉ côté dépôt</a:t>
                      </a:r>
                    </a:p>
                  </a:txBody>
                  <a:tcPr>
                    <a:solidFill>
                      <a:srgbClr val="228B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CI statique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Lint, tests, Semgrep, Gitleaks, Trivy FS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TERMINÉ côté dépôt</a:t>
                      </a:r>
                    </a:p>
                  </a:txBody>
                  <a:tcPr>
                    <a:solidFill>
                      <a:srgbClr val="228B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Build et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Docker, images OCI, localhost:5001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TERMINÉ côté dépôt</a:t>
                      </a:r>
                    </a:p>
                  </a:txBody>
                  <a:tcPr>
                    <a:solidFill>
                      <a:srgbClr val="228B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Supply chain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Trivy image, Syft, Cosign sign/verify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DÉPENDANT_DE_L_ENVIRONNEMENT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Promotion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Digest-first, no-rebuild, attestation, provenance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DÉPENDANT_DE_L_ENVIRONNEMENT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Déploiement Kubernetes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kind, overlays demo/production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TERMINÉ côté dépôt</a:t>
                      </a:r>
                    </a:p>
                  </a:txBody>
                  <a:tcPr>
                    <a:solidFill>
                      <a:srgbClr val="228B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Runtime 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Pods récents, imageID, digests, HPA, healthchecks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DÉPENDANT_DE_L_ENVIRONNEMENT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Sécurité post-déploiement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Hardening runtime, NetPol, SA, RBAC, PDB, probes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DÉPENDANT_DE_L_ENVIRONNEMENT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Kyverno Audit /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ClusterPolicies, PolicyReports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DÉPENDANT_DE_L_ENVIRONNEMENT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PostgreSQL externe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Secret DB, backup, restore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DÉPENDANT_DE_L_ENVIRONNEMENT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Secrets modernes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SOPS, ESO, 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PRÊT_NON_EXÉCUTÉ</a:t>
                      </a:r>
                    </a:p>
                  </a:txBody>
                  <a:tcPr>
                    <a:solidFill>
                      <a:srgbClr val="DD6B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Jenkins live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ptos"/>
                        </a:rPr>
                        <a:t>Webhook, CI/CD reel, preuves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PARTIEL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F3B52"/>
                </a:solidFill>
                <a:latin typeface="Aptos"/>
              </a:rPr>
              <a:t>Lecture honnete pour le memoire et la soutenance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8B55"/>
                </a:solidFill>
                <a:latin typeface="Aptos"/>
              </a:rPr>
              <a:t>Ce qui est déjà fort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8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Aptos"/>
              </a:defRPr>
            </a:pPr>
            <a:r>
              <a:t>Chaîne DevSecOps conçue, automatisée, versionnée et documentée.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Déploiement digest strict prêt côté dépôt.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Hardening Kubernetes, Kyverno Audit, support pack et documentation alignés.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6CB0"/>
                </a:solidFill>
                <a:latin typeface="Aptos"/>
              </a:rPr>
              <a:t>Ce qui doit être rejoué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Aptos"/>
              </a:defRPr>
            </a:pPr>
            <a:r>
              <a:t>Preuve runtime finale des workloads réellement actifs.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Rejoue finale Trivy, Syft, Cosign, promotion digest, attestation et provenance.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Collecte finale HPA, metrics, PolicyReports et runtime imageID.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ptos"/>
              </a:rPr>
              <a:t>Ce qui reste environnemental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Aptos"/>
              </a:defRPr>
            </a:pPr>
            <a:r>
              <a:t>Kyverno Enforce si la registry n'est pas joignable depuis les pods Kyverno.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PostgreSQL externe, backup et restore réels.</a:t>
            </a:r>
          </a:p>
          <a:p>
            <a:pPr>
              <a:defRPr sz="1300">
                <a:solidFill>
                  <a:srgbClr val="222222"/>
                </a:solidFill>
                <a:latin typeface="Aptos"/>
              </a:defRPr>
            </a:pPr>
            <a:r>
              <a:t>Preuve Jenkins live sur l'instance réelle.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3B52"/>
                </a:solidFill>
                <a:latin typeface="Aptos"/>
              </a:rPr>
              <a:t>Phrase de synthese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44752"/>
            <a:ext cx="5212080" cy="3611880"/>
          </a:xfrm>
          <a:prstGeom prst="roundRect">
            <a:avLst/>
          </a:prstGeom>
          <a:solidFill>
            <a:srgbClr val="E8F0FE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2222"/>
                </a:solidFill>
                <a:latin typeface="Aptos"/>
              </a:defRPr>
            </a:pPr>
            <a:r>
              <a:t>SecureRAG Hub dispose d'une chaine DevSecOps complete et defendable cote depot.</a:t>
            </a:r>
          </a:p>
          <a:p>
            <a:pPr>
              <a:defRPr sz="1300" b="0">
                <a:solidFill>
                  <a:srgbClr val="222222"/>
                </a:solidFill>
                <a:latin typeface="Aptos"/>
              </a:defRPr>
            </a:pPr>
            <a:r>
              <a:t>Les elements encore ouverts ne sont plus des trous de conception majeurs mais des preuves live a rejouer proprement sur l'environnement cible.</a:t>
            </a:r>
          </a:p>
          <a:p>
            <a:pPr>
              <a:defRPr sz="1300" b="0">
                <a:solidFill>
                  <a:srgbClr val="222222"/>
                </a:solidFill>
                <a:latin typeface="Aptos"/>
              </a:defRPr>
            </a:pPr>
            <a:r>
              <a:t>La lecture honnete distingue explicitement ce qui est termine, partiel, pret non execute et dependant de l'environnement.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