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434"/>
                </a:solidFill>
                <a:latin typeface="Aptos Display"/>
              </a:rPr>
              <a:t>SecureRAG Hub - Ameliorations haut niveau</a:t>
            </a:r>
          </a:p>
          <a:p>
            <a:r>
              <a:rPr sz="1100">
                <a:solidFill>
                  <a:srgbClr val="606C80"/>
                </a:solidFill>
                <a:latin typeface="Aptos"/>
              </a:rPr>
              <a:t>Lecture honnete: renforcer l'environnement runtime, pas reecrire ce qui est deja solide cote depot.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5303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" cy="1280160"/>
          </a:xfrm>
          <a:prstGeom prst="rect">
            <a:avLst/>
          </a:prstGeom>
          <a:solidFill>
            <a:srgbClr val="1D8C57"/>
          </a:solidFill>
          <a:ln>
            <a:solidFill>
              <a:srgbClr val="1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81328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8C57"/>
                </a:solidFill>
                <a:latin typeface="Aptos"/>
              </a:rPr>
              <a:t>TERMINE cote depot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La chaine est concue, automatisee, versionnee et documentee.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303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109728" cy="1280160"/>
          </a:xfrm>
          <a:prstGeom prst="rect">
            <a:avLst/>
          </a:prstGeom>
          <a:solidFill>
            <a:srgbClr val="D68721"/>
          </a:solidFill>
          <a:ln>
            <a:solidFill>
              <a:srgbClr val="D687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481328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8721"/>
                </a:solidFill>
                <a:latin typeface="Aptos"/>
              </a:rPr>
              <a:t>DEPENDANT_DE_L_ENVIRONNEMENT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Runtime final, release finale, Kyverno live, DB externe et Jenkins live.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5303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109728" cy="1280160"/>
          </a:xfrm>
          <a:prstGeom prst="rect">
            <a:avLst/>
          </a:prstGeom>
          <a:solidFill>
            <a:srgbClr val="2C66D6"/>
          </a:solidFill>
          <a:ln>
            <a:solidFill>
              <a:srgbClr val="2C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944368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6D6"/>
                </a:solidFill>
                <a:latin typeface="Aptos"/>
              </a:rPr>
              <a:t>PRET_NON_EXECUTE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Modernisation secrets type SOPS, ESO ou Vault.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834640"/>
            <a:ext cx="5303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834640"/>
            <a:ext cx="109728" cy="1280160"/>
          </a:xfrm>
          <a:prstGeom prst="rect">
            <a:avLst/>
          </a:prstGeom>
          <a:solidFill>
            <a:srgbClr val="B83F3F"/>
          </a:solidFill>
          <a:ln>
            <a:solidFill>
              <a:srgbClr val="B8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944368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83F3F"/>
                </a:solidFill>
                <a:latin typeface="Aptos"/>
              </a:rPr>
              <a:t>PARTIEL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Demonstration live tant que le cluster cible n'est pas proprement rejoue.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434"/>
                </a:solidFill>
                <a:latin typeface="Aptos Display"/>
              </a:rPr>
              <a:t>Roadmap priorisee P0 / P1 / P2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09728" cy="4389120"/>
          </a:xfrm>
          <a:prstGeom prst="rect">
            <a:avLst/>
          </a:prstGeom>
          <a:solidFill>
            <a:srgbClr val="B83F3F"/>
          </a:solidFill>
          <a:ln>
            <a:solidFill>
              <a:srgbClr val="B8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44168"/>
            <a:ext cx="3291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83F3F"/>
                </a:solidFill>
                <a:latin typeface="Aptos"/>
              </a:rPr>
              <a:t>P0 - Fermer les blocages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Registry joignable par le cluster
Cluster cible sain et rejoue
Release finale par digest
PostgreSQL externe avec backup et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23444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1234440"/>
            <a:ext cx="109728" cy="4389120"/>
          </a:xfrm>
          <a:prstGeom prst="rect">
            <a:avLst/>
          </a:prstGeom>
          <a:solidFill>
            <a:srgbClr val="D68721"/>
          </a:solidFill>
          <a:ln>
            <a:solidFill>
              <a:srgbClr val="D687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344168"/>
            <a:ext cx="3291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8721"/>
                </a:solidFill>
                <a:latin typeface="Aptos"/>
              </a:rPr>
              <a:t>P1 - Moderniser l'exploitation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Secrets modernes
Prometheus, Grafana, Alertmanager
Detection runtime Falco ou Tetragon
Progressive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34440"/>
            <a:ext cx="35661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234440"/>
            <a:ext cx="109728" cy="4389120"/>
          </a:xfrm>
          <a:prstGeom prst="rect">
            <a:avLst/>
          </a:prstGeom>
          <a:solidFill>
            <a:srgbClr val="2C66D6"/>
          </a:solidFill>
          <a:ln>
            <a:solidFill>
              <a:srgbClr val="2C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44168"/>
            <a:ext cx="32918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6D6"/>
                </a:solidFill>
                <a:latin typeface="Aptos"/>
              </a:rPr>
              <a:t>P2 - Industrialiser la plateforme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GitOps
Mapping conformite
SLO, error budgets, incident drills
Gouvernance multi-environnements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434"/>
                </a:solidFill>
                <a:latin typeface="Aptos Display"/>
              </a:rPr>
              <a:t>SWOT haut niveau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09728" cy="1828800"/>
          </a:xfrm>
          <a:prstGeom prst="rect">
            <a:avLst/>
          </a:prstGeom>
          <a:solidFill>
            <a:srgbClr val="1D8C57"/>
          </a:solidFill>
          <a:ln>
            <a:solidFill>
              <a:srgbClr val="1D8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8C57"/>
                </a:solidFill>
                <a:latin typeface="Aptos"/>
              </a:rPr>
              <a:t>Strengths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Socle DevSecOps solide, release immuable, hardening Kubernetes, evidence model et documentation mature.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80160"/>
            <a:ext cx="53035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1280160"/>
            <a:ext cx="109728" cy="1828800"/>
          </a:xfrm>
          <a:prstGeom prst="rect">
            <a:avLst/>
          </a:prstGeom>
          <a:solidFill>
            <a:srgbClr val="D68721"/>
          </a:solidFill>
          <a:ln>
            <a:solidFill>
              <a:srgbClr val="D687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389888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68721"/>
                </a:solidFill>
                <a:latin typeface="Aptos"/>
              </a:rPr>
              <a:t>Weaknesses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Preuves runtime finales encore dependantes de l'environnement, registry loopback, DB externe non rejouee, Jenkins live partiel.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53035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109728" cy="1828800"/>
          </a:xfrm>
          <a:prstGeom prst="rect">
            <a:avLst/>
          </a:prstGeom>
          <a:solidFill>
            <a:srgbClr val="2C66D6"/>
          </a:solidFill>
          <a:ln>
            <a:solidFill>
              <a:srgbClr val="2C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93008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C66D6"/>
                </a:solidFill>
                <a:latin typeface="Aptos"/>
              </a:rPr>
              <a:t>Opportunities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Registry cloud, secrets modernes, observabilite SRE, GitOps, detection runtime, meilleure conformite.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383280"/>
            <a:ext cx="53035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A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383280"/>
            <a:ext cx="109728" cy="1828800"/>
          </a:xfrm>
          <a:prstGeom prst="rect">
            <a:avLst/>
          </a:prstGeom>
          <a:solidFill>
            <a:srgbClr val="B83F3F"/>
          </a:solidFill>
          <a:ln>
            <a:solidFill>
              <a:srgbClr val="B8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493008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83F3F"/>
                </a:solidFill>
                <a:latin typeface="Aptos"/>
              </a:rPr>
              <a:t>Threats</a:t>
            </a:r>
          </a:p>
          <a:p>
            <a:r>
              <a:rPr sz="1100">
                <a:solidFill>
                  <a:srgbClr val="1C2434"/>
                </a:solidFill>
                <a:latin typeface="Aptos"/>
              </a:rPr>
              <a:t>Surpromesse production, environnement demo fragile, admission control limite par localhost, dette de gouvernance des secrets.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C2434"/>
                </a:solidFill>
                <a:latin typeface="Aptos Display"/>
              </a:rPr>
              <a:t>Message de soutenance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1C2434"/>
                </a:solidFill>
                <a:latin typeface="Aptos"/>
              </a:rPr>
              <a:t>Le projet est deja fort la ou beaucoup de PFE restent superficiels: automatisation, supply chain, hardening, preuves et documentation.</a:t>
            </a:r>
          </a:p>
          <a:p>
            <a:pPr/>
            <a:r>
              <a:rPr sz="1800">
                <a:solidFill>
                  <a:srgbClr val="1C2434"/>
                </a:solidFill>
                <a:latin typeface="Aptos"/>
              </a:rPr>
              <a:t>Les prochaines ameliorations ne sont pas des rustines de code; elles ciblent la credibilite runtime, la gouvernance des secrets, l'observabilite et la resilience des donnees.</a:t>
            </a:r>
          </a:p>
          <a:p>
            <a:pPr/>
            <a:r>
              <a:rPr sz="1800">
                <a:solidFill>
                  <a:srgbClr val="1C2434"/>
                </a:solidFill>
                <a:latin typeface="Aptos"/>
              </a:rPr>
              <a:t>Le bon message n'est donc pas 'il manque tout', mais 'la base est solide et les prochains gains sont clairement identifies, priorises et operables'.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C2434"/>
                </a:solidFill>
                <a:latin typeface="Aptos"/>
              </a:rPr>
              <a:t>Priorites recommandees: registry reelle, cluster sain, PostgreSQL externe, secrets modernes, observabilite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